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34E6397-545D-4206-AF33-481C6B4E6D61}">
  <a:tblStyle styleId="{134E6397-545D-4206-AF33-481C6B4E6D61}"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p:nvPr>
            <p:ph idx="2" type="pic"/>
          </p:nvPr>
        </p:nvSpPr>
        <p:spPr>
          <a:xfrm>
            <a:off x="5183188" y="987425"/>
            <a:ext cx="6172200" cy="4873625"/>
          </a:xfrm>
          <a:prstGeom prst="rect">
            <a:avLst/>
          </a:prstGeom>
          <a:noFill/>
          <a:ln>
            <a:noFill/>
          </a:ln>
        </p:spPr>
      </p:sp>
      <p:sp>
        <p:nvSpPr>
          <p:cNvPr id="58" name="Google Shape;58;p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1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12"/>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IBM Bob”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13"/>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13"/>
          <p:cNvGraphicFramePr/>
          <p:nvPr/>
        </p:nvGraphicFramePr>
        <p:xfrm>
          <a:off x="1299257" y="2600315"/>
          <a:ext cx="3000000" cy="3000000"/>
        </p:xfrm>
        <a:graphic>
          <a:graphicData uri="http://schemas.openxmlformats.org/drawingml/2006/table">
            <a:tbl>
              <a:tblPr>
                <a:noFill/>
                <a:tableStyleId>{134E6397-545D-4206-AF33-481C6B4E6D61}</a:tableStyleId>
              </a:tblPr>
              <a:tblGrid>
                <a:gridCol w="2064875"/>
                <a:gridCol w="2443375"/>
                <a:gridCol w="2443375"/>
                <a:gridCol w="2443375"/>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2311675">
                <a:tc>
                  <a:txBody>
                    <a:bodyPr/>
                    <a:lstStyle/>
                    <a:p>
                      <a:pPr indent="0" lvl="0" marL="0" marR="0" rtl="0" algn="l">
                        <a:lnSpc>
                          <a:spcPct val="100000"/>
                        </a:lnSpc>
                        <a:spcBef>
                          <a:spcPts val="0"/>
                        </a:spcBef>
                        <a:spcAft>
                          <a:spcPts val="0"/>
                        </a:spcAft>
                        <a:buClr>
                          <a:srgbClr val="000000"/>
                        </a:buClr>
                        <a:buSzPts val="1400"/>
                        <a:buFont typeface="Arial"/>
                        <a:buNone/>
                      </a:pPr>
                      <a:r>
                        <a:rPr lang="en-US"/>
                        <a:t>B S PREETHAM BHARADWAJ</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a:t>254g1a47b0@srit.ac.in</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a:t>9110554125</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sp>
        <p:nvSpPr>
          <p:cNvPr id="87" name="Google Shape;87;p13"/>
          <p:cNvSpPr txBox="1"/>
          <p:nvPr/>
        </p:nvSpPr>
        <p:spPr>
          <a:xfrm>
            <a:off x="1206164" y="1460724"/>
            <a:ext cx="102804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Domain of  Project – </a:t>
            </a:r>
            <a:r>
              <a:rPr b="1" i="0" lang="en-US" sz="2400" u="none" cap="none" strike="noStrike">
                <a:solidFill>
                  <a:srgbClr val="000000"/>
                </a:solidFill>
                <a:highlight>
                  <a:srgbClr val="FFFF00"/>
                </a:highlight>
                <a:latin typeface="Arial"/>
                <a:ea typeface="Arial"/>
                <a:cs typeface="Arial"/>
                <a:sym typeface="Arial"/>
              </a:rPr>
              <a:t>[</a:t>
            </a:r>
            <a:r>
              <a:rPr b="1" lang="en-US" sz="2400">
                <a:highlight>
                  <a:srgbClr val="FFFF00"/>
                </a:highlight>
              </a:rPr>
              <a:t>MindCare AI – Agentic Mental Health Awareness &amp; Suicide Prevention System </a:t>
            </a:r>
            <a:r>
              <a:rPr b="1" i="0" lang="en-US" sz="2400" u="none" cap="none" strike="noStrike">
                <a:solidFill>
                  <a:srgbClr val="000000"/>
                </a:solidFill>
                <a:highlight>
                  <a:srgbClr val="FFFF00"/>
                </a:highlight>
                <a:latin typeface="Arial"/>
                <a:ea typeface="Arial"/>
                <a:cs typeface="Arial"/>
                <a:sym typeface="Arial"/>
              </a:rPr>
              <a:t> ]</a:t>
            </a:r>
            <a:endParaRPr b="1" i="0" sz="2400" u="none" cap="none" strike="noStrike">
              <a:solidFill>
                <a:srgbClr val="000000"/>
              </a:solidFill>
              <a:highlight>
                <a:srgbClr val="FFFF00"/>
              </a:highlight>
              <a:latin typeface="Arial"/>
              <a:ea typeface="Arial"/>
              <a:cs typeface="Arial"/>
              <a:sym typeface="Arial"/>
            </a:endParaRPr>
          </a:p>
        </p:txBody>
      </p:sp>
      <p:sp>
        <p:nvSpPr>
          <p:cNvPr id="88" name="Google Shape;88;p13"/>
          <p:cNvSpPr txBox="1"/>
          <p:nvPr/>
        </p:nvSpPr>
        <p:spPr>
          <a:xfrm>
            <a:off x="1206162" y="551965"/>
            <a:ext cx="95811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Project Tile – </a:t>
            </a:r>
            <a:r>
              <a:rPr b="1" i="0" lang="en-US" sz="2400" u="none" cap="none" strike="noStrike">
                <a:solidFill>
                  <a:srgbClr val="000000"/>
                </a:solidFill>
                <a:highlight>
                  <a:srgbClr val="FFFF00"/>
                </a:highlight>
                <a:latin typeface="Arial"/>
                <a:ea typeface="Arial"/>
                <a:cs typeface="Arial"/>
                <a:sym typeface="Arial"/>
              </a:rPr>
              <a:t>[</a:t>
            </a:r>
            <a:r>
              <a:rPr b="1" lang="en-US" sz="2400">
                <a:solidFill>
                  <a:srgbClr val="002060"/>
                </a:solidFill>
                <a:highlight>
                  <a:srgbClr val="FFFF00"/>
                </a:highlight>
                <a:latin typeface="Times New Roman"/>
                <a:ea typeface="Times New Roman"/>
                <a:cs typeface="Times New Roman"/>
                <a:sym typeface="Times New Roman"/>
              </a:rPr>
              <a:t>MindCare AI – Agentic Mental Health Awareness &amp; Suicide Prevention System </a:t>
            </a:r>
            <a:r>
              <a:rPr b="1" i="0" lang="en-US" sz="2400" u="none" cap="none" strike="noStrike">
                <a:solidFill>
                  <a:srgbClr val="000000"/>
                </a:solidFill>
                <a:highlight>
                  <a:srgbClr val="FFFF00"/>
                </a:highlight>
                <a:latin typeface="Arial"/>
                <a:ea typeface="Arial"/>
                <a:cs typeface="Arial"/>
                <a:sym typeface="Arial"/>
              </a:rPr>
              <a:t>]</a:t>
            </a:r>
            <a:endParaRPr b="1" i="0" sz="2400" u="none" cap="none" strike="noStrike">
              <a:solidFill>
                <a:srgbClr val="000000"/>
              </a:solidFill>
              <a:highlight>
                <a:srgbClr val="FFFF00"/>
              </a:highlight>
              <a:latin typeface="Arial"/>
              <a:ea typeface="Arial"/>
              <a:cs typeface="Arial"/>
              <a:sym typeface="Arial"/>
            </a:endParaRPr>
          </a:p>
        </p:txBody>
      </p:sp>
      <p:pic>
        <p:nvPicPr>
          <p:cNvPr id="89" name="Google Shape;89;p13" title="Passport size photo.jpeg"/>
          <p:cNvPicPr preferRelativeResize="0"/>
          <p:nvPr/>
        </p:nvPicPr>
        <p:blipFill>
          <a:blip r:embed="rId3">
            <a:alphaModFix/>
          </a:blip>
          <a:stretch>
            <a:fillRect/>
          </a:stretch>
        </p:blipFill>
        <p:spPr>
          <a:xfrm>
            <a:off x="3634822" y="3625797"/>
            <a:ext cx="1662125" cy="2097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nvSpPr>
        <p:spPr>
          <a:xfrm>
            <a:off x="534675" y="779054"/>
            <a:ext cx="10607100" cy="55674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0"/>
              </a:spcBef>
              <a:spcAft>
                <a:spcPts val="0"/>
              </a:spcAft>
              <a:buClr>
                <a:schemeClr val="dk1"/>
              </a:buClr>
              <a:buSzPts val="1100"/>
              <a:buFont typeface="Arial"/>
              <a:buNone/>
            </a:pPr>
            <a:r>
              <a:rPr b="1" lang="en-US">
                <a:solidFill>
                  <a:schemeClr val="dk1"/>
                </a:solidFill>
              </a:rPr>
              <a:t>The Challenge</a:t>
            </a:r>
            <a:endParaRPr b="1">
              <a:solidFill>
                <a:schemeClr val="dk1"/>
              </a:solidFill>
            </a:endParaRPr>
          </a:p>
          <a:p>
            <a:pPr indent="0" lvl="0" marL="0" rtl="0" algn="just">
              <a:lnSpc>
                <a:spcPct val="115000"/>
              </a:lnSpc>
              <a:spcBef>
                <a:spcPts val="800"/>
              </a:spcBef>
              <a:spcAft>
                <a:spcPts val="0"/>
              </a:spcAft>
              <a:buClr>
                <a:schemeClr val="dk1"/>
              </a:buClr>
              <a:buSzPts val="1100"/>
              <a:buFont typeface="Arial"/>
              <a:buNone/>
            </a:pPr>
            <a:r>
              <a:rPr lang="en-US">
                <a:solidFill>
                  <a:schemeClr val="dk1"/>
                </a:solidFill>
              </a:rPr>
              <a:t>Mental health issues such as depression, anxiety, and suicidal thoughts are growing worldwide. Stigma, lack of awareness, and limited access to timely help prevent many individuals from seeking support. Traditional systems are often reactive, leaving gaps in early detection and preventive care.</a:t>
            </a:r>
            <a:endParaRPr>
              <a:solidFill>
                <a:schemeClr val="dk1"/>
              </a:solidFill>
            </a:endParaRPr>
          </a:p>
          <a:p>
            <a:pPr indent="0" lvl="0" marL="0" rtl="0" algn="just">
              <a:lnSpc>
                <a:spcPct val="115000"/>
              </a:lnSpc>
              <a:spcBef>
                <a:spcPts val="800"/>
              </a:spcBef>
              <a:spcAft>
                <a:spcPts val="0"/>
              </a:spcAft>
              <a:buClr>
                <a:schemeClr val="dk1"/>
              </a:buClr>
              <a:buSzPts val="1100"/>
              <a:buFont typeface="Arial"/>
              <a:buNone/>
            </a:pPr>
            <a:r>
              <a:rPr b="1" lang="en-US">
                <a:solidFill>
                  <a:schemeClr val="dk1"/>
                </a:solidFill>
              </a:rPr>
              <a:t>The Objective</a:t>
            </a:r>
            <a:endParaRPr b="1">
              <a:solidFill>
                <a:schemeClr val="dk1"/>
              </a:solidFill>
            </a:endParaRPr>
          </a:p>
          <a:p>
            <a:pPr indent="0" lvl="0" marL="0" rtl="0" algn="just">
              <a:lnSpc>
                <a:spcPct val="115000"/>
              </a:lnSpc>
              <a:spcBef>
                <a:spcPts val="800"/>
              </a:spcBef>
              <a:spcAft>
                <a:spcPts val="0"/>
              </a:spcAft>
              <a:buClr>
                <a:schemeClr val="dk1"/>
              </a:buClr>
              <a:buSzPts val="1100"/>
              <a:buFont typeface="Arial"/>
              <a:buNone/>
            </a:pPr>
            <a:r>
              <a:rPr lang="en-US">
                <a:solidFill>
                  <a:schemeClr val="dk1"/>
                </a:solidFill>
              </a:rPr>
              <a:t>Build an Agentic AI-powered Mental Health Awareness &amp; Suicide Prevention Agent that is empathetic, proactive, and safe. The solution should:</a:t>
            </a:r>
            <a:endParaRPr>
              <a:solidFill>
                <a:schemeClr val="dk1"/>
              </a:solidFill>
            </a:endParaRPr>
          </a:p>
          <a:p>
            <a:pPr indent="-177800" lvl="0" marL="177800" rtl="0" algn="just">
              <a:lnSpc>
                <a:spcPct val="115000"/>
              </a:lnSpc>
              <a:spcBef>
                <a:spcPts val="800"/>
              </a:spcBef>
              <a:spcAft>
                <a:spcPts val="0"/>
              </a:spcAft>
              <a:buClr>
                <a:schemeClr val="dk1"/>
              </a:buClr>
              <a:buSzPts val="1100"/>
              <a:buFont typeface="Arial"/>
              <a:buNone/>
            </a:pPr>
            <a:r>
              <a:rPr lang="en-US">
                <a:solidFill>
                  <a:schemeClr val="dk1"/>
                </a:solidFill>
              </a:rPr>
              <a:t>1.   </a:t>
            </a:r>
            <a:r>
              <a:rPr b="1" lang="en-US">
                <a:solidFill>
                  <a:schemeClr val="dk1"/>
                </a:solidFill>
              </a:rPr>
              <a:t>Promote Awareness &amp; Education </a:t>
            </a:r>
            <a:r>
              <a:rPr lang="en-US">
                <a:solidFill>
                  <a:schemeClr val="dk1"/>
                </a:solidFill>
              </a:rPr>
              <a:t>– Share accessible resources on mindfulness, coping strategies, and self-care.</a:t>
            </a:r>
            <a:endParaRPr>
              <a:solidFill>
                <a:schemeClr val="dk1"/>
              </a:solidFill>
            </a:endParaRPr>
          </a:p>
          <a:p>
            <a:pPr indent="-177800" lvl="0" marL="177800" rtl="0" algn="just">
              <a:lnSpc>
                <a:spcPct val="115000"/>
              </a:lnSpc>
              <a:spcBef>
                <a:spcPts val="0"/>
              </a:spcBef>
              <a:spcAft>
                <a:spcPts val="0"/>
              </a:spcAft>
              <a:buClr>
                <a:schemeClr val="dk1"/>
              </a:buClr>
              <a:buSzPts val="1100"/>
              <a:buFont typeface="Arial"/>
              <a:buNone/>
            </a:pPr>
            <a:r>
              <a:rPr lang="en-US">
                <a:solidFill>
                  <a:schemeClr val="dk1"/>
                </a:solidFill>
              </a:rPr>
              <a:t>2.   </a:t>
            </a:r>
            <a:r>
              <a:rPr b="1" lang="en-US">
                <a:solidFill>
                  <a:schemeClr val="dk1"/>
                </a:solidFill>
              </a:rPr>
              <a:t>Enable Early Detection (RAG) </a:t>
            </a:r>
            <a:r>
              <a:rPr lang="en-US">
                <a:solidFill>
                  <a:schemeClr val="dk1"/>
                </a:solidFill>
              </a:rPr>
              <a:t>– Use Retrieval-Augmented Generation to identify distress signals in conversations, journaling inputs, or safe online data.</a:t>
            </a:r>
            <a:endParaRPr>
              <a:solidFill>
                <a:schemeClr val="dk1"/>
              </a:solidFill>
            </a:endParaRPr>
          </a:p>
          <a:p>
            <a:pPr indent="-177800" lvl="0" marL="177800" rtl="0" algn="just">
              <a:lnSpc>
                <a:spcPct val="115000"/>
              </a:lnSpc>
              <a:spcBef>
                <a:spcPts val="0"/>
              </a:spcBef>
              <a:spcAft>
                <a:spcPts val="0"/>
              </a:spcAft>
              <a:buClr>
                <a:schemeClr val="dk1"/>
              </a:buClr>
              <a:buSzPts val="1100"/>
              <a:buFont typeface="Arial"/>
              <a:buNone/>
            </a:pPr>
            <a:r>
              <a:rPr lang="en-US">
                <a:solidFill>
                  <a:schemeClr val="dk1"/>
                </a:solidFill>
              </a:rPr>
              <a:t>3.   </a:t>
            </a:r>
            <a:r>
              <a:rPr b="1" lang="en-US">
                <a:solidFill>
                  <a:schemeClr val="dk1"/>
                </a:solidFill>
              </a:rPr>
              <a:t>Provide Empathetic Support – </a:t>
            </a:r>
            <a:r>
              <a:rPr lang="en-US">
                <a:solidFill>
                  <a:schemeClr val="dk1"/>
                </a:solidFill>
              </a:rPr>
              <a:t>Build a conversational agent that listens actively and responds with empathy (with clear disclaimers: not a substitute for professional medical advice).</a:t>
            </a:r>
            <a:endParaRPr>
              <a:solidFill>
                <a:schemeClr val="dk1"/>
              </a:solidFill>
            </a:endParaRPr>
          </a:p>
          <a:p>
            <a:pPr indent="-177800" lvl="0" marL="177800" rtl="0" algn="just">
              <a:lnSpc>
                <a:spcPct val="115000"/>
              </a:lnSpc>
              <a:spcBef>
                <a:spcPts val="0"/>
              </a:spcBef>
              <a:spcAft>
                <a:spcPts val="0"/>
              </a:spcAft>
              <a:buClr>
                <a:schemeClr val="dk1"/>
              </a:buClr>
              <a:buSzPts val="1100"/>
              <a:buFont typeface="Arial"/>
              <a:buNone/>
            </a:pPr>
            <a:r>
              <a:rPr lang="en-US">
                <a:solidFill>
                  <a:schemeClr val="dk1"/>
                </a:solidFill>
              </a:rPr>
              <a:t>4.   </a:t>
            </a:r>
            <a:r>
              <a:rPr b="1" lang="en-US">
                <a:solidFill>
                  <a:schemeClr val="dk1"/>
                </a:solidFill>
              </a:rPr>
              <a:t>Predict &amp; Prevent Risks – </a:t>
            </a:r>
            <a:r>
              <a:rPr lang="en-US">
                <a:solidFill>
                  <a:schemeClr val="dk1"/>
                </a:solidFill>
              </a:rPr>
              <a:t>Forecast stress peaks, suggest preventive strategies, and issue alerts when high-risk signals are detected (with consent).</a:t>
            </a:r>
            <a:endParaRPr>
              <a:solidFill>
                <a:schemeClr val="dk1"/>
              </a:solidFill>
            </a:endParaRPr>
          </a:p>
          <a:p>
            <a:pPr indent="-177800" lvl="0" marL="177800" rtl="0" algn="just">
              <a:lnSpc>
                <a:spcPct val="115000"/>
              </a:lnSpc>
              <a:spcBef>
                <a:spcPts val="0"/>
              </a:spcBef>
              <a:spcAft>
                <a:spcPts val="0"/>
              </a:spcAft>
              <a:buClr>
                <a:schemeClr val="dk1"/>
              </a:buClr>
              <a:buSzPts val="1100"/>
              <a:buFont typeface="Arial"/>
              <a:buNone/>
            </a:pPr>
            <a:r>
              <a:rPr lang="en-US">
                <a:solidFill>
                  <a:schemeClr val="dk1"/>
                </a:solidFill>
              </a:rPr>
              <a:t>5.   </a:t>
            </a:r>
            <a:r>
              <a:rPr b="1" lang="en-US">
                <a:solidFill>
                  <a:schemeClr val="dk1"/>
                </a:solidFill>
              </a:rPr>
              <a:t>Connect to Human Support – </a:t>
            </a:r>
            <a:r>
              <a:rPr lang="en-US">
                <a:solidFill>
                  <a:schemeClr val="dk1"/>
                </a:solidFill>
              </a:rPr>
              <a:t>Link users to helplines, counselors, or community support for timely intervention.</a:t>
            </a:r>
            <a:endParaRPr>
              <a:solidFill>
                <a:schemeClr val="dk1"/>
              </a:solidFill>
            </a:endParaRPr>
          </a:p>
          <a:p>
            <a:pPr indent="0" lvl="0" marL="0" rtl="0" algn="just">
              <a:lnSpc>
                <a:spcPct val="115000"/>
              </a:lnSpc>
              <a:spcBef>
                <a:spcPts val="800"/>
              </a:spcBef>
              <a:spcAft>
                <a:spcPts val="0"/>
              </a:spcAft>
              <a:buClr>
                <a:schemeClr val="dk1"/>
              </a:buClr>
              <a:buSzPts val="1100"/>
              <a:buFont typeface="Arial"/>
              <a:buNone/>
            </a:pPr>
            <a:r>
              <a:rPr b="1" lang="en-US">
                <a:solidFill>
                  <a:schemeClr val="dk1"/>
                </a:solidFill>
              </a:rPr>
              <a:t>Tech Stack (Mandatory)</a:t>
            </a:r>
            <a:endParaRPr b="1">
              <a:solidFill>
                <a:schemeClr val="dk1"/>
              </a:solidFill>
            </a:endParaRPr>
          </a:p>
          <a:p>
            <a:pPr indent="-317500" lvl="0" marL="457200" rtl="0" algn="just">
              <a:lnSpc>
                <a:spcPct val="115000"/>
              </a:lnSpc>
              <a:spcBef>
                <a:spcPts val="800"/>
              </a:spcBef>
              <a:spcAft>
                <a:spcPts val="0"/>
              </a:spcAft>
              <a:buClr>
                <a:schemeClr val="dk1"/>
              </a:buClr>
              <a:buSzPts val="1400"/>
              <a:buChar char="●"/>
            </a:pPr>
            <a:r>
              <a:rPr lang="en-US">
                <a:solidFill>
                  <a:schemeClr val="dk1"/>
                </a:solidFill>
              </a:rPr>
              <a:t>IBM Bob + IBM Cloud + IBM Granite</a:t>
            </a:r>
            <a:endParaRPr>
              <a:solidFill>
                <a:schemeClr val="dk1"/>
              </a:solidFill>
            </a:endParaRPr>
          </a:p>
          <a:p>
            <a:pPr indent="0" lvl="0" marL="45720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 name="Google Shape;95;p14"/>
          <p:cNvSpPr txBox="1"/>
          <p:nvPr/>
        </p:nvSpPr>
        <p:spPr>
          <a:xfrm>
            <a:off x="534672" y="234588"/>
            <a:ext cx="7214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Statement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nvSpPr>
        <p:spPr>
          <a:xfrm>
            <a:off x="524322" y="644540"/>
            <a:ext cx="10607100" cy="6313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800"/>
              </a:spcBef>
              <a:spcAft>
                <a:spcPts val="0"/>
              </a:spcAft>
              <a:buClr>
                <a:schemeClr val="dk1"/>
              </a:buClr>
              <a:buSzPts val="1100"/>
              <a:buFont typeface="Arial"/>
              <a:buNone/>
            </a:pPr>
            <a:r>
              <a:rPr b="1" lang="en-US" sz="1700">
                <a:solidFill>
                  <a:schemeClr val="dk1"/>
                </a:solidFill>
              </a:rPr>
              <a:t>MindCare AI – Mental Health Awareness &amp; Suicide Prevention Agent</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proposed solution is a multi-agent AI-powered mental health support system built using IBM Bob, IBM Cloud, and IBM Granite Models to provide empathetic support, early distress detection, and preventive care.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At its core, the system uses Retrieval-Augmented Generation (RAG) to retrieve reliable mental health information from trusted sources such as WHO resources and verified helpline directories, enabling accurate, context-aware responses.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solution consists of four key agents: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Awareness Agent: Provides mindfulness exercises, self-care tips, and mental health education.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Early Detection Agent: Analyses voluntary conversations and journal entries to identify potential emotional distress signals.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Empathetic Support Agent: Offers supportive conversations, coping strategies, and personalized recommendations without replacing professional medical advice.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Risk Prevention &amp; Referral Agent: Identifies potential high-risk signals, recommends preventive actions, and connects users to verified helplines or professionals, with appropriate consent.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solution includes a user-friendly dashboard to track mood patterns, access resources, and view personalized recommendations while protecting user privacy.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IBM Bob supports agent workflow development, IBM Cloud provides scalable deployment, and IBM Granite powers conversational AI and reasoning.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Overall, MindCare AI promotes mental well-being through early support, responsible AI, and timely human intervention.</a:t>
            </a:r>
            <a:endParaRPr>
              <a:solidFill>
                <a:schemeClr val="dk1"/>
              </a:solidFill>
            </a:endParaRPr>
          </a:p>
          <a:p>
            <a:pPr indent="0" lvl="0" marL="0" marR="0" rtl="0" algn="l">
              <a:lnSpc>
                <a:spcPct val="100000"/>
              </a:lnSpc>
              <a:spcBef>
                <a:spcPts val="1200"/>
              </a:spcBef>
              <a:spcAft>
                <a:spcPts val="0"/>
              </a:spcAft>
              <a:buNone/>
            </a:pPr>
            <a:r>
              <a:t/>
            </a:r>
            <a:endParaRPr b="1" sz="1700">
              <a:solidFill>
                <a:schemeClr val="dk1"/>
              </a:solidFill>
            </a:endParaRPr>
          </a:p>
        </p:txBody>
      </p:sp>
      <p:sp>
        <p:nvSpPr>
          <p:cNvPr id="101" name="Google Shape;101;p15"/>
          <p:cNvSpPr txBox="1"/>
          <p:nvPr/>
        </p:nvSpPr>
        <p:spPr>
          <a:xfrm>
            <a:off x="576072" y="182838"/>
            <a:ext cx="7214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nvSpPr>
        <p:spPr>
          <a:xfrm>
            <a:off x="818640" y="194832"/>
            <a:ext cx="7123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07" name="Google Shape;107;p16"/>
          <p:cNvSpPr txBox="1"/>
          <p:nvPr/>
        </p:nvSpPr>
        <p:spPr>
          <a:xfrm>
            <a:off x="777240" y="1000033"/>
            <a:ext cx="10515600" cy="6811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n-US" sz="1800"/>
              <a:t>IBM Bob Platform – </a:t>
            </a:r>
            <a:r>
              <a:rPr lang="en-US" sz="1800"/>
              <a:t>For designing and orchestrating multi-agent workflows for mental health awareness, distress detection, and crisis support.</a:t>
            </a:r>
            <a:endParaRPr sz="1800"/>
          </a:p>
          <a:p>
            <a:pPr indent="0" lvl="0" marL="0" rtl="0" algn="l">
              <a:lnSpc>
                <a:spcPct val="115000"/>
              </a:lnSpc>
              <a:spcBef>
                <a:spcPts val="1200"/>
              </a:spcBef>
              <a:spcAft>
                <a:spcPts val="0"/>
              </a:spcAft>
              <a:buClr>
                <a:schemeClr val="dk1"/>
              </a:buClr>
              <a:buSzPts val="1100"/>
              <a:buFont typeface="Arial"/>
              <a:buNone/>
            </a:pPr>
            <a:r>
              <a:rPr b="1" lang="en-US" sz="1800"/>
              <a:t>- IBM Granite Models –</a:t>
            </a:r>
            <a:r>
              <a:rPr lang="en-US" sz="1800"/>
              <a:t> For natural language understanding, empathetic conversations, distress signal analysis, and personalized mental health recommendations.</a:t>
            </a:r>
            <a:endParaRPr sz="1800"/>
          </a:p>
          <a:p>
            <a:pPr indent="0" lvl="0" marL="0" rtl="0" algn="l">
              <a:lnSpc>
                <a:spcPct val="115000"/>
              </a:lnSpc>
              <a:spcBef>
                <a:spcPts val="1200"/>
              </a:spcBef>
              <a:spcAft>
                <a:spcPts val="0"/>
              </a:spcAft>
              <a:buClr>
                <a:schemeClr val="dk1"/>
              </a:buClr>
              <a:buSzPts val="1100"/>
              <a:buFont typeface="Arial"/>
              <a:buNone/>
            </a:pPr>
            <a:r>
              <a:rPr b="1" lang="en-US" sz="1800"/>
              <a:t>- IBM Cloud – </a:t>
            </a:r>
            <a:r>
              <a:rPr lang="en-US" sz="1800"/>
              <a:t>Provides a secure, reliable, and scalable infrastructure for deploying the MindCare AI platform.</a:t>
            </a:r>
            <a:endParaRPr sz="1800"/>
          </a:p>
          <a:p>
            <a:pPr indent="0" lvl="0" marL="0" rtl="0" algn="l">
              <a:lnSpc>
                <a:spcPct val="115000"/>
              </a:lnSpc>
              <a:spcBef>
                <a:spcPts val="1200"/>
              </a:spcBef>
              <a:spcAft>
                <a:spcPts val="0"/>
              </a:spcAft>
              <a:buClr>
                <a:schemeClr val="dk1"/>
              </a:buClr>
              <a:buSzPts val="1100"/>
              <a:buFont typeface="Arial"/>
              <a:buNone/>
            </a:pPr>
            <a:r>
              <a:rPr b="1" lang="en-US" sz="1800"/>
              <a:t>- RAG (Retrieval-Augmented Generation) – </a:t>
            </a:r>
            <a:r>
              <a:rPr lang="en-US" sz="1800"/>
              <a:t>Retrieves verified mental health information and helpline resources before generating context-aware responses.</a:t>
            </a:r>
            <a:endParaRPr sz="1800"/>
          </a:p>
          <a:p>
            <a:pPr indent="0" lvl="0" marL="0" rtl="0" algn="l">
              <a:lnSpc>
                <a:spcPct val="115000"/>
              </a:lnSpc>
              <a:spcBef>
                <a:spcPts val="1200"/>
              </a:spcBef>
              <a:spcAft>
                <a:spcPts val="0"/>
              </a:spcAft>
              <a:buClr>
                <a:schemeClr val="dk1"/>
              </a:buClr>
              <a:buSzPts val="1100"/>
              <a:buFont typeface="Arial"/>
              <a:buNone/>
            </a:pPr>
            <a:r>
              <a:rPr b="1" lang="en-US" sz="1800"/>
              <a:t>- IBM watsonx.ai –</a:t>
            </a:r>
            <a:r>
              <a:rPr lang="en-US" sz="1800"/>
              <a:t> For AI model deployment, embeddings, and AI governance.</a:t>
            </a:r>
            <a:endParaRPr sz="1800"/>
          </a:p>
          <a:p>
            <a:pPr indent="0" lvl="0" marL="0" rtl="0" algn="l">
              <a:lnSpc>
                <a:spcPct val="115000"/>
              </a:lnSpc>
              <a:spcBef>
                <a:spcPts val="1200"/>
              </a:spcBef>
              <a:spcAft>
                <a:spcPts val="0"/>
              </a:spcAft>
              <a:buClr>
                <a:schemeClr val="dk1"/>
              </a:buClr>
              <a:buSzPts val="1100"/>
              <a:buFont typeface="Arial"/>
              <a:buNone/>
            </a:pPr>
            <a:r>
              <a:rPr b="1" lang="en-US" sz="1800"/>
              <a:t>- Vector Database (FAISS/Chroma) – </a:t>
            </a:r>
            <a:r>
              <a:rPr lang="en-US" sz="1800"/>
              <a:t>For storing and retrieving mental health resources efficiently to support RAG-based responses.</a:t>
            </a:r>
            <a:endParaRPr sz="1800"/>
          </a:p>
          <a:p>
            <a:pPr indent="0" lvl="0" marL="0" rtl="0" algn="l">
              <a:lnSpc>
                <a:spcPct val="115000"/>
              </a:lnSpc>
              <a:spcBef>
                <a:spcPts val="1200"/>
              </a:spcBef>
              <a:spcAft>
                <a:spcPts val="0"/>
              </a:spcAft>
              <a:buClr>
                <a:schemeClr val="dk1"/>
              </a:buClr>
              <a:buSzPts val="1100"/>
              <a:buFont typeface="Arial"/>
              <a:buNone/>
            </a:pPr>
            <a:r>
              <a:rPr b="1" lang="en-US" sz="1800"/>
              <a:t>- React / Streamlit – </a:t>
            </a:r>
            <a:r>
              <a:rPr lang="en-US" sz="1800"/>
              <a:t>For building a user-friendly dashboard for mood tracking, journaling, and mental health resources.</a:t>
            </a:r>
            <a:endParaRPr sz="1800"/>
          </a:p>
          <a:p>
            <a:pPr indent="0" lvl="0" marL="0" rtl="0" algn="l">
              <a:lnSpc>
                <a:spcPct val="115000"/>
              </a:lnSpc>
              <a:spcBef>
                <a:spcPts val="1200"/>
              </a:spcBef>
              <a:spcAft>
                <a:spcPts val="0"/>
              </a:spcAft>
              <a:buClr>
                <a:schemeClr val="dk1"/>
              </a:buClr>
              <a:buSzPts val="1100"/>
              <a:buFont typeface="Arial"/>
              <a:buNone/>
            </a:pPr>
            <a:r>
              <a:rPr b="1" lang="en-US" sz="1800"/>
              <a:t>- FastAPI / Flask –</a:t>
            </a:r>
            <a:r>
              <a:rPr lang="en-US" sz="1800"/>
              <a:t> For connecting AI agents, managing API requests, and integrating backend services.</a:t>
            </a:r>
            <a:endParaRPr sz="1800"/>
          </a:p>
          <a:p>
            <a:pPr indent="-171450" lvl="0" marL="285750" marR="0" rtl="0" algn="l">
              <a:lnSpc>
                <a:spcPct val="100000"/>
              </a:lnSpc>
              <a:spcBef>
                <a:spcPts val="1200"/>
              </a:spcBef>
              <a:spcAft>
                <a:spcPts val="0"/>
              </a:spcAft>
              <a:buClr>
                <a:srgbClr val="000000"/>
              </a:buClr>
              <a:buSzPts val="1800"/>
              <a:buFont typeface="Arial"/>
              <a:buNone/>
            </a:pPr>
            <a:r>
              <a:t/>
            </a:r>
            <a:endParaRPr b="1" sz="1800"/>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Required Files created using IBM bob -</a:t>
            </a:r>
            <a:endParaRPr b="1" i="0" sz="2400" u="none" cap="none" strike="noStrike">
              <a:solidFill>
                <a:srgbClr val="000000"/>
              </a:solidFill>
              <a:latin typeface="Arial"/>
              <a:ea typeface="Arial"/>
              <a:cs typeface="Arial"/>
              <a:sym typeface="Arial"/>
            </a:endParaRPr>
          </a:p>
        </p:txBody>
      </p:sp>
      <p:sp>
        <p:nvSpPr>
          <p:cNvPr id="113" name="Google Shape;113;p17"/>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4" name="Google Shape;114;p17"/>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5" name="Google Shape;115;p17"/>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6" name="Google Shape;116;p17"/>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7" name="Google Shape;117;p17"/>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8" name="Google Shape;118;p17"/>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9" name="Google Shape;119;p17"/>
          <p:cNvSpPr txBox="1"/>
          <p:nvPr/>
        </p:nvSpPr>
        <p:spPr>
          <a:xfrm>
            <a:off x="474822" y="863187"/>
            <a:ext cx="8823960" cy="4739759"/>
          </a:xfrm>
          <a:prstGeom prst="rect">
            <a:avLst/>
          </a:prstGeom>
          <a:noFill/>
          <a:ln>
            <a:noFill/>
          </a:ln>
        </p:spPr>
        <p:txBody>
          <a:bodyPr anchorCtr="0" anchor="t" bIns="45700" lIns="91425" spcFirstLastPara="1" rIns="91425" wrap="square" tIns="45700">
            <a:spAutoFit/>
          </a:bodyPr>
          <a:lstStyle/>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App.py</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Requirements.txt</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Style.css </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.env</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Index.html</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20" name="Google Shape;120;p17"/>
          <p:cNvSpPr/>
          <p:nvPr/>
        </p:nvSpPr>
        <p:spPr>
          <a:xfrm>
            <a:off x="4013862" y="1690157"/>
            <a:ext cx="5908284" cy="317232"/>
          </a:xfrm>
          <a:prstGeom prst="rect">
            <a:avLst/>
          </a:prstGeom>
          <a:solidFill>
            <a:srgbClr val="E71224">
              <a:alpha val="5098"/>
            </a:srgbClr>
          </a:solidFill>
          <a:ln cap="flat" cmpd="sng" w="72000">
            <a:solidFill>
              <a:srgbClr val="E712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E71224"/>
              </a:solidFill>
              <a:latin typeface="Arial"/>
              <a:ea typeface="Arial"/>
              <a:cs typeface="Arial"/>
              <a:sym typeface="Arial"/>
            </a:endParaRPr>
          </a:p>
        </p:txBody>
      </p:sp>
      <p:sp>
        <p:nvSpPr>
          <p:cNvPr id="121" name="Google Shape;121;p17"/>
          <p:cNvSpPr/>
          <p:nvPr/>
        </p:nvSpPr>
        <p:spPr>
          <a:xfrm rot="8280234">
            <a:off x="7719727" y="1520573"/>
            <a:ext cx="923544" cy="338328"/>
          </a:xfrm>
          <a:prstGeom prst="rightArrow">
            <a:avLst>
              <a:gd fmla="val 50000" name="adj1"/>
              <a:gd fmla="val 50000" name="adj2"/>
            </a:avLst>
          </a:prstGeom>
          <a:solidFill>
            <a:schemeClr val="accen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22" name="Google Shape;122;p17" title="Screenshot 2026-10-10 144645.png"/>
          <p:cNvPicPr preferRelativeResize="0"/>
          <p:nvPr/>
        </p:nvPicPr>
        <p:blipFill>
          <a:blip r:embed="rId3">
            <a:alphaModFix/>
          </a:blip>
          <a:stretch>
            <a:fillRect/>
          </a:stretch>
        </p:blipFill>
        <p:spPr>
          <a:xfrm>
            <a:off x="3343324" y="801987"/>
            <a:ext cx="8398548" cy="52540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8"/>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3500" u="none" cap="none" strike="noStrike">
                <a:solidFill>
                  <a:srgbClr val="051D3A"/>
                </a:solidFill>
                <a:latin typeface="Times New Roman"/>
                <a:ea typeface="Times New Roman"/>
                <a:cs typeface="Times New Roman"/>
                <a:sym typeface="Times New Roman"/>
              </a:rPr>
              <a:t> </a:t>
            </a:r>
            <a:r>
              <a:rPr b="1" i="0" lang="en-US" sz="2400" u="none" cap="none" strike="noStrike">
                <a:solidFill>
                  <a:srgbClr val="051D3A"/>
                </a:solidFill>
                <a:latin typeface="Times New Roman"/>
                <a:ea typeface="Times New Roman"/>
                <a:cs typeface="Times New Roman"/>
                <a:sym typeface="Times New Roman"/>
              </a:rPr>
              <a:t>IBM Bob Screenshots:</a:t>
            </a:r>
            <a:endParaRPr b="1" i="0" sz="2400" u="none" cap="none" strike="noStrike">
              <a:solidFill>
                <a:srgbClr val="000000"/>
              </a:solidFill>
              <a:latin typeface="Arial"/>
              <a:ea typeface="Arial"/>
              <a:cs typeface="Arial"/>
              <a:sym typeface="Arial"/>
            </a:endParaRPr>
          </a:p>
        </p:txBody>
      </p:sp>
      <p:pic>
        <p:nvPicPr>
          <p:cNvPr id="128" name="Google Shape;128;p18" title="Screenshot 2026-10-10 145755.png"/>
          <p:cNvPicPr preferRelativeResize="0"/>
          <p:nvPr/>
        </p:nvPicPr>
        <p:blipFill>
          <a:blip r:embed="rId3">
            <a:alphaModFix/>
          </a:blip>
          <a:stretch>
            <a:fillRect/>
          </a:stretch>
        </p:blipFill>
        <p:spPr>
          <a:xfrm>
            <a:off x="907825" y="968975"/>
            <a:ext cx="10148224" cy="55748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p19" title="Screenshot 2026-10-10 144735.png"/>
          <p:cNvPicPr preferRelativeResize="0"/>
          <p:nvPr/>
        </p:nvPicPr>
        <p:blipFill>
          <a:blip r:embed="rId3">
            <a:alphaModFix/>
          </a:blip>
          <a:stretch>
            <a:fillRect/>
          </a:stretch>
        </p:blipFill>
        <p:spPr>
          <a:xfrm>
            <a:off x="656075" y="275175"/>
            <a:ext cx="10973948" cy="63029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0"/>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chemeClr val="dk1"/>
                </a:solidFill>
                <a:latin typeface="Calibri"/>
                <a:ea typeface="Calibri"/>
                <a:cs typeface="Calibri"/>
                <a:sym typeface="Calibri"/>
              </a:rPr>
              <a:t>Architecture blueprint for IBM bob:</a:t>
            </a:r>
            <a:endParaRPr b="0" i="0" sz="2400" u="none" cap="none" strike="noStrike">
              <a:solidFill>
                <a:srgbClr val="000000"/>
              </a:solidFill>
              <a:latin typeface="Arial"/>
              <a:ea typeface="Arial"/>
              <a:cs typeface="Arial"/>
              <a:sym typeface="Arial"/>
            </a:endParaRPr>
          </a:p>
        </p:txBody>
      </p:sp>
      <p:pic>
        <p:nvPicPr>
          <p:cNvPr id="139" name="Google Shape;139;p20"/>
          <p:cNvPicPr preferRelativeResize="0"/>
          <p:nvPr/>
        </p:nvPicPr>
        <p:blipFill>
          <a:blip r:embed="rId3">
            <a:alphaModFix/>
          </a:blip>
          <a:stretch>
            <a:fillRect/>
          </a:stretch>
        </p:blipFill>
        <p:spPr>
          <a:xfrm>
            <a:off x="1145975" y="771747"/>
            <a:ext cx="10272680" cy="578145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1"/>
          <p:cNvPicPr preferRelativeResize="0"/>
          <p:nvPr/>
        </p:nvPicPr>
        <p:blipFill rotWithShape="1">
          <a:blip r:embed="rId3">
            <a:alphaModFix/>
          </a:blip>
          <a:srcRect b="0" l="0" r="0" t="0"/>
          <a:stretch/>
        </p:blipFill>
        <p:spPr>
          <a:xfrm>
            <a:off x="8371985" y="1167493"/>
            <a:ext cx="3015343" cy="4523014"/>
          </a:xfrm>
          <a:prstGeom prst="rect">
            <a:avLst/>
          </a:prstGeom>
          <a:noFill/>
          <a:ln>
            <a:noFill/>
          </a:ln>
        </p:spPr>
      </p:pic>
      <p:sp>
        <p:nvSpPr>
          <p:cNvPr id="145" name="Google Shape;145;p21"/>
          <p:cNvSpPr txBox="1"/>
          <p:nvPr/>
        </p:nvSpPr>
        <p:spPr>
          <a:xfrm>
            <a:off x="621811" y="211014"/>
            <a:ext cx="93177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Role of Agentic AI i</a:t>
            </a:r>
            <a:r>
              <a:rPr b="1" lang="en-US" sz="3200"/>
              <a:t>n the Solution</a:t>
            </a:r>
            <a:r>
              <a:rPr b="1" i="0" lang="en-US" sz="3200" u="none" cap="none" strike="noStrike">
                <a:solidFill>
                  <a:srgbClr val="000000"/>
                </a:solidFill>
                <a:latin typeface="Arial"/>
                <a:ea typeface="Arial"/>
                <a:cs typeface="Arial"/>
                <a:sym typeface="Arial"/>
              </a:rPr>
              <a:t> </a:t>
            </a:r>
            <a:endParaRPr b="1" i="0" sz="3200" u="none" cap="none" strike="noStrike">
              <a:solidFill>
                <a:srgbClr val="000000"/>
              </a:solidFill>
              <a:latin typeface="Arial"/>
              <a:ea typeface="Arial"/>
              <a:cs typeface="Arial"/>
              <a:sym typeface="Arial"/>
            </a:endParaRPr>
          </a:p>
        </p:txBody>
      </p:sp>
      <p:sp>
        <p:nvSpPr>
          <p:cNvPr id="146" name="Google Shape;146;p21"/>
          <p:cNvSpPr txBox="1"/>
          <p:nvPr/>
        </p:nvSpPr>
        <p:spPr>
          <a:xfrm>
            <a:off x="621792" y="1167493"/>
            <a:ext cx="7406640" cy="31085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Role of Agentic AI in Nutrition Agent</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Agentic AI</a:t>
            </a:r>
            <a:r>
              <a:rPr b="0" i="0" lang="en-US" sz="1400" u="none" cap="none" strike="noStrike">
                <a:solidFill>
                  <a:srgbClr val="000000"/>
                </a:solidFill>
                <a:latin typeface="Arial"/>
                <a:ea typeface="Arial"/>
                <a:cs typeface="Arial"/>
                <a:sym typeface="Arial"/>
              </a:rPr>
              <a:t> enables the Nutrition Agent to function as an intelligent, autonomous system rather than a simple chatbot. Using </a:t>
            </a:r>
            <a:r>
              <a:rPr b="1" i="0" lang="en-US" sz="1400" u="none" cap="none" strike="noStrike">
                <a:solidFill>
                  <a:srgbClr val="000000"/>
                </a:solidFill>
                <a:latin typeface="Arial"/>
                <a:ea typeface="Arial"/>
                <a:cs typeface="Arial"/>
                <a:sym typeface="Arial"/>
              </a:rPr>
              <a:t>IBM watsonx.ai</a:t>
            </a:r>
            <a:r>
              <a:rPr b="0" i="0" lang="en-US" sz="1400" u="none" cap="none" strike="noStrike">
                <a:solidFill>
                  <a:srgbClr val="000000"/>
                </a:solidFill>
                <a:latin typeface="Arial"/>
                <a:ea typeface="Arial"/>
                <a:cs typeface="Arial"/>
                <a:sym typeface="Arial"/>
              </a:rPr>
              <a:t> and </a:t>
            </a:r>
            <a:r>
              <a:rPr b="1" i="0" lang="en-US" sz="1400" u="none" cap="none" strike="noStrike">
                <a:solidFill>
                  <a:srgbClr val="000000"/>
                </a:solidFill>
                <a:latin typeface="Arial"/>
                <a:ea typeface="Arial"/>
                <a:cs typeface="Arial"/>
                <a:sym typeface="Arial"/>
              </a:rPr>
              <a:t>IBM Granite models</a:t>
            </a:r>
            <a:r>
              <a:rPr b="0" i="0" lang="en-US" sz="1400" u="none" cap="none" strike="noStrike">
                <a:solidFill>
                  <a:srgbClr val="000000"/>
                </a:solidFill>
                <a:latin typeface="Arial"/>
                <a:ea typeface="Arial"/>
                <a:cs typeface="Arial"/>
                <a:sym typeface="Arial"/>
              </a:rPr>
              <a:t>, it coordinates multiple specialized agents to deliver personalized nutrition guidance.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Each agent performs a specific role—such as retrieving nutritional data, generating diet plans, providing health advice, and analyzing food logs—while working collaboratively. This </a:t>
            </a:r>
            <a:r>
              <a:rPr b="1" i="0" lang="en-US" sz="1400" u="none" cap="none" strike="noStrike">
                <a:solidFill>
                  <a:srgbClr val="000000"/>
                </a:solidFill>
                <a:latin typeface="Arial"/>
                <a:ea typeface="Arial"/>
                <a:cs typeface="Arial"/>
                <a:sym typeface="Arial"/>
              </a:rPr>
              <a:t>multi-agent approach</a:t>
            </a:r>
            <a:r>
              <a:rPr b="0" i="0" lang="en-US" sz="1400" u="none" cap="none" strike="noStrike">
                <a:solidFill>
                  <a:srgbClr val="000000"/>
                </a:solidFill>
                <a:latin typeface="Arial"/>
                <a:ea typeface="Arial"/>
                <a:cs typeface="Arial"/>
                <a:sym typeface="Arial"/>
              </a:rPr>
              <a:t> ensures efficient task execution and accurate results.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Agentic AI also brings </a:t>
            </a:r>
            <a:r>
              <a:rPr b="1" i="0" lang="en-US" sz="1400" u="none" cap="none" strike="noStrike">
                <a:solidFill>
                  <a:srgbClr val="000000"/>
                </a:solidFill>
                <a:latin typeface="Arial"/>
                <a:ea typeface="Arial"/>
                <a:cs typeface="Arial"/>
                <a:sym typeface="Arial"/>
              </a:rPr>
              <a:t>context awareness</a:t>
            </a:r>
            <a:r>
              <a:rPr b="0" i="0" lang="en-US" sz="1400" u="none" cap="none" strike="noStrike">
                <a:solidFill>
                  <a:srgbClr val="000000"/>
                </a:solidFill>
                <a:latin typeface="Arial"/>
                <a:ea typeface="Arial"/>
                <a:cs typeface="Arial"/>
                <a:sym typeface="Arial"/>
              </a:rPr>
              <a:t>, understanding user details like age, health conditions, and fitness goals to generate tailored recommendations. It supports </a:t>
            </a:r>
            <a:r>
              <a:rPr b="1" i="0" lang="en-US" sz="1400" u="none" cap="none" strike="noStrike">
                <a:solidFill>
                  <a:srgbClr val="000000"/>
                </a:solidFill>
                <a:latin typeface="Arial"/>
                <a:ea typeface="Arial"/>
                <a:cs typeface="Arial"/>
                <a:sym typeface="Arial"/>
              </a:rPr>
              <a:t>real-time adaptation</a:t>
            </a:r>
            <a:r>
              <a:rPr b="0" i="0" lang="en-US" sz="1400" u="none" cap="none" strike="noStrike">
                <a:solidFill>
                  <a:srgbClr val="000000"/>
                </a:solidFill>
                <a:latin typeface="Arial"/>
                <a:ea typeface="Arial"/>
                <a:cs typeface="Arial"/>
                <a:sym typeface="Arial"/>
              </a:rPr>
              <a:t>, continuously updating suggestions based on user inputs like daily meals.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Additionally, agents communicate with each other, enabling better decision-making and improved outcomes.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Overall, Agentic AI makes the system proactive, personalized, and goal-driven, acting like a </a:t>
            </a:r>
            <a:r>
              <a:rPr b="1" i="0" lang="en-US" sz="1400" u="none" cap="none" strike="noStrike">
                <a:solidFill>
                  <a:srgbClr val="000000"/>
                </a:solidFill>
                <a:latin typeface="Arial"/>
                <a:ea typeface="Arial"/>
                <a:cs typeface="Arial"/>
                <a:sym typeface="Arial"/>
              </a:rPr>
              <a:t>smart digital nutritionist</a:t>
            </a:r>
            <a:r>
              <a:rPr b="0" i="0" lang="en-US" sz="1400" u="none" cap="none" strike="noStrike">
                <a:solidFill>
                  <a:srgbClr val="000000"/>
                </a:solidFill>
                <a:latin typeface="Arial"/>
                <a:ea typeface="Arial"/>
                <a:cs typeface="Arial"/>
                <a:sym typeface="Arial"/>
              </a:rPr>
              <a:t> that helps users maintain a healthy lifestyle.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p:nvPr/>
        </p:nvSpPr>
        <p:spPr>
          <a:xfrm>
            <a:off x="409144" y="1129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sp>
        <p:nvSpPr>
          <p:cNvPr id="152" name="Google Shape;152;p22"/>
          <p:cNvSpPr/>
          <p:nvPr/>
        </p:nvSpPr>
        <p:spPr>
          <a:xfrm>
            <a:off x="1159924" y="3266141"/>
            <a:ext cx="74685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53" name="Google Shape;153;p22"/>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54" name="Google Shape;154;p22"/>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55" name="Google Shape;155;p22"/>
          <p:cNvSpPr txBox="1"/>
          <p:nvPr/>
        </p:nvSpPr>
        <p:spPr>
          <a:xfrm>
            <a:off x="1335024" y="1865376"/>
            <a:ext cx="68340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000" u="none" cap="none" strike="noStrike">
              <a:solidFill>
                <a:srgbClr val="FF0000"/>
              </a:solidFill>
              <a:latin typeface="Arial"/>
              <a:ea typeface="Arial"/>
              <a:cs typeface="Arial"/>
              <a:sym typeface="Arial"/>
            </a:endParaRPr>
          </a:p>
        </p:txBody>
      </p:sp>
      <p:pic>
        <p:nvPicPr>
          <p:cNvPr id="156" name="Google Shape;156;p22" title="Screenshot 2026-10-10 174658.png"/>
          <p:cNvPicPr preferRelativeResize="0"/>
          <p:nvPr/>
        </p:nvPicPr>
        <p:blipFill>
          <a:blip r:embed="rId3">
            <a:alphaModFix/>
          </a:blip>
          <a:stretch>
            <a:fillRect/>
          </a:stretch>
        </p:blipFill>
        <p:spPr>
          <a:xfrm>
            <a:off x="1610838" y="816975"/>
            <a:ext cx="8970324" cy="5605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3"/>
          <p:cNvSpPr/>
          <p:nvPr/>
        </p:nvSpPr>
        <p:spPr>
          <a:xfrm>
            <a:off x="409144" y="1129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sp>
        <p:nvSpPr>
          <p:cNvPr id="162" name="Google Shape;162;p23"/>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63" name="Google Shape;163;p23"/>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64" name="Google Shape;164;p23"/>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65" name="Google Shape;165;p23"/>
          <p:cNvSpPr txBox="1"/>
          <p:nvPr/>
        </p:nvSpPr>
        <p:spPr>
          <a:xfrm>
            <a:off x="1335024" y="1865376"/>
            <a:ext cx="68340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000" u="none" cap="none" strike="noStrike">
              <a:solidFill>
                <a:srgbClr val="FF0000"/>
              </a:solidFill>
              <a:latin typeface="Arial"/>
              <a:ea typeface="Arial"/>
              <a:cs typeface="Arial"/>
              <a:sym typeface="Arial"/>
            </a:endParaRPr>
          </a:p>
        </p:txBody>
      </p:sp>
      <p:pic>
        <p:nvPicPr>
          <p:cNvPr id="166" name="Google Shape;166;p23" title="Screenshot 2026-10-10 174712.png"/>
          <p:cNvPicPr preferRelativeResize="0"/>
          <p:nvPr/>
        </p:nvPicPr>
        <p:blipFill>
          <a:blip r:embed="rId3">
            <a:alphaModFix/>
          </a:blip>
          <a:stretch>
            <a:fillRect/>
          </a:stretch>
        </p:blipFill>
        <p:spPr>
          <a:xfrm>
            <a:off x="1644999" y="743301"/>
            <a:ext cx="8902002" cy="5563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4"/>
          <p:cNvSpPr/>
          <p:nvPr/>
        </p:nvSpPr>
        <p:spPr>
          <a:xfrm>
            <a:off x="409144" y="1129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sp>
        <p:nvSpPr>
          <p:cNvPr id="172" name="Google Shape;172;p24"/>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3" name="Google Shape;173;p24"/>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4" name="Google Shape;174;p24"/>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5" name="Google Shape;175;p24"/>
          <p:cNvSpPr txBox="1"/>
          <p:nvPr/>
        </p:nvSpPr>
        <p:spPr>
          <a:xfrm>
            <a:off x="1335024" y="1865376"/>
            <a:ext cx="68340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000" u="none" cap="none" strike="noStrike">
              <a:solidFill>
                <a:srgbClr val="FF0000"/>
              </a:solidFill>
              <a:latin typeface="Arial"/>
              <a:ea typeface="Arial"/>
              <a:cs typeface="Arial"/>
              <a:sym typeface="Arial"/>
            </a:endParaRPr>
          </a:p>
        </p:txBody>
      </p:sp>
      <p:pic>
        <p:nvPicPr>
          <p:cNvPr id="176" name="Google Shape;176;p24" title="Screenshot 2026-10-10 175224.png"/>
          <p:cNvPicPr preferRelativeResize="0"/>
          <p:nvPr/>
        </p:nvPicPr>
        <p:blipFill>
          <a:blip r:embed="rId3">
            <a:alphaModFix/>
          </a:blip>
          <a:stretch>
            <a:fillRect/>
          </a:stretch>
        </p:blipFill>
        <p:spPr>
          <a:xfrm>
            <a:off x="1665975" y="816975"/>
            <a:ext cx="9084351" cy="56771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5"/>
          <p:cNvSpPr txBox="1"/>
          <p:nvPr/>
        </p:nvSpPr>
        <p:spPr>
          <a:xfrm>
            <a:off x="844340" y="114782"/>
            <a:ext cx="7123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Novelty and Uniqueness</a:t>
            </a:r>
            <a:endParaRPr b="1" i="0" sz="2400" u="none" cap="none" strike="noStrike">
              <a:solidFill>
                <a:srgbClr val="000000"/>
              </a:solidFill>
              <a:latin typeface="Arial"/>
              <a:ea typeface="Arial"/>
              <a:cs typeface="Arial"/>
              <a:sym typeface="Arial"/>
            </a:endParaRPr>
          </a:p>
        </p:txBody>
      </p:sp>
      <p:sp>
        <p:nvSpPr>
          <p:cNvPr id="182" name="Google Shape;182;p25"/>
          <p:cNvSpPr txBox="1"/>
          <p:nvPr/>
        </p:nvSpPr>
        <p:spPr>
          <a:xfrm>
            <a:off x="844350" y="576476"/>
            <a:ext cx="11301900" cy="66987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800"/>
              <a:t>MindCare AI stands out by combining Agentic AI, RAG, and personalized mental health support into a single intelligent system.</a:t>
            </a:r>
            <a:endParaRPr sz="1800"/>
          </a:p>
          <a:p>
            <a:pPr indent="0" lvl="0" marL="0" rtl="0" algn="l">
              <a:lnSpc>
                <a:spcPct val="115000"/>
              </a:lnSpc>
              <a:spcBef>
                <a:spcPts val="1200"/>
              </a:spcBef>
              <a:spcAft>
                <a:spcPts val="0"/>
              </a:spcAft>
              <a:buClr>
                <a:schemeClr val="dk1"/>
              </a:buClr>
              <a:buSzPts val="1100"/>
              <a:buFont typeface="Arial"/>
              <a:buNone/>
            </a:pPr>
            <a:r>
              <a:rPr lang="en-US" sz="1800"/>
              <a:t>Multi-Agent Intelligence – Multiple specialized agents collaborate to provide mental health education, emotional support, and risk prevention.</a:t>
            </a:r>
            <a:endParaRPr sz="1800"/>
          </a:p>
          <a:p>
            <a:pPr indent="0" lvl="0" marL="0" rtl="0" algn="l">
              <a:lnSpc>
                <a:spcPct val="115000"/>
              </a:lnSpc>
              <a:spcBef>
                <a:spcPts val="1200"/>
              </a:spcBef>
              <a:spcAft>
                <a:spcPts val="0"/>
              </a:spcAft>
              <a:buClr>
                <a:schemeClr val="dk1"/>
              </a:buClr>
              <a:buSzPts val="1100"/>
              <a:buFont typeface="Arial"/>
              <a:buNone/>
            </a:pPr>
            <a:r>
              <a:rPr lang="en-US" sz="1800"/>
              <a:t>RAG-Based Reliability – Retrieves verified mental health resources and helpline information to generate trustworthy, context-aware responses.</a:t>
            </a:r>
            <a:endParaRPr sz="1800"/>
          </a:p>
          <a:p>
            <a:pPr indent="0" lvl="0" marL="0" rtl="0" algn="l">
              <a:lnSpc>
                <a:spcPct val="115000"/>
              </a:lnSpc>
              <a:spcBef>
                <a:spcPts val="1200"/>
              </a:spcBef>
              <a:spcAft>
                <a:spcPts val="0"/>
              </a:spcAft>
              <a:buClr>
                <a:schemeClr val="dk1"/>
              </a:buClr>
              <a:buSzPts val="1100"/>
              <a:buFont typeface="Arial"/>
              <a:buNone/>
            </a:pPr>
            <a:r>
              <a:rPr lang="en-US" sz="1800"/>
              <a:t>Personalized Support – Adapts coping strategies and self-care recommendations to users’ concerns, preferences, and needs.</a:t>
            </a:r>
            <a:endParaRPr sz="1800"/>
          </a:p>
          <a:p>
            <a:pPr indent="0" lvl="0" marL="0" rtl="0" algn="l">
              <a:lnSpc>
                <a:spcPct val="115000"/>
              </a:lnSpc>
              <a:spcBef>
                <a:spcPts val="1200"/>
              </a:spcBef>
              <a:spcAft>
                <a:spcPts val="0"/>
              </a:spcAft>
              <a:buClr>
                <a:schemeClr val="dk1"/>
              </a:buClr>
              <a:buSzPts val="1100"/>
              <a:buFont typeface="Arial"/>
              <a:buNone/>
            </a:pPr>
            <a:r>
              <a:rPr lang="en-US" sz="1800"/>
              <a:t>Early Distress Detection – Analyses voluntary journal entries and conversations to identify potential emotional distress signals without making clinical diagnoses.</a:t>
            </a:r>
            <a:endParaRPr sz="1800"/>
          </a:p>
          <a:p>
            <a:pPr indent="0" lvl="0" marL="0" rtl="0" algn="l">
              <a:lnSpc>
                <a:spcPct val="115000"/>
              </a:lnSpc>
              <a:spcBef>
                <a:spcPts val="1200"/>
              </a:spcBef>
              <a:spcAft>
                <a:spcPts val="0"/>
              </a:spcAft>
              <a:buClr>
                <a:schemeClr val="dk1"/>
              </a:buClr>
              <a:buSzPts val="1100"/>
              <a:buFont typeface="Arial"/>
              <a:buNone/>
            </a:pPr>
            <a:r>
              <a:rPr lang="en-US" sz="1800"/>
              <a:t>Proactive Risk Prevention – Recognizes potential high-risk signals and prioritizes safety guidance and timely human intervention.</a:t>
            </a:r>
            <a:endParaRPr sz="1800"/>
          </a:p>
          <a:p>
            <a:pPr indent="0" lvl="0" marL="0" rtl="0" algn="l">
              <a:lnSpc>
                <a:spcPct val="115000"/>
              </a:lnSpc>
              <a:spcBef>
                <a:spcPts val="1200"/>
              </a:spcBef>
              <a:spcAft>
                <a:spcPts val="0"/>
              </a:spcAft>
              <a:buClr>
                <a:schemeClr val="dk1"/>
              </a:buClr>
              <a:buSzPts val="1100"/>
              <a:buFont typeface="Arial"/>
              <a:buNone/>
            </a:pPr>
            <a:r>
              <a:rPr lang="en-US" sz="1800"/>
              <a:t>Human Support Integration – Connects users with verified helplines, counsellors, and trusted contacts with appropriate consent.</a:t>
            </a:r>
            <a:endParaRPr sz="1800"/>
          </a:p>
          <a:p>
            <a:pPr indent="0" lvl="0" marL="0" rtl="0" algn="l">
              <a:lnSpc>
                <a:spcPct val="115000"/>
              </a:lnSpc>
              <a:spcBef>
                <a:spcPts val="1200"/>
              </a:spcBef>
              <a:spcAft>
                <a:spcPts val="0"/>
              </a:spcAft>
              <a:buClr>
                <a:schemeClr val="dk1"/>
              </a:buClr>
              <a:buSzPts val="1100"/>
              <a:buFont typeface="Arial"/>
              <a:buNone/>
            </a:pPr>
            <a:r>
              <a:rPr lang="en-US" sz="1800"/>
              <a:t>Privacy and Safety Focus – Uses consent-based data collection, privacy safeguards, and human oversight for sensitive situations.</a:t>
            </a:r>
            <a:endParaRPr sz="1800"/>
          </a:p>
          <a:p>
            <a:pPr indent="0" lvl="0" marL="0" marR="0" rtl="0" algn="l">
              <a:lnSpc>
                <a:spcPct val="100000"/>
              </a:lnSpc>
              <a:spcBef>
                <a:spcPts val="1200"/>
              </a:spcBef>
              <a:spcAft>
                <a:spcPts val="0"/>
              </a:spcAft>
              <a:buNone/>
            </a:pPr>
            <a:r>
              <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88" name="Google Shape;188;p26"/>
          <p:cNvSpPr/>
          <p:nvPr/>
        </p:nvSpPr>
        <p:spPr>
          <a:xfrm>
            <a:off x="1218724" y="1153712"/>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 Please create public github repository (Enable Add README  button while creating repository) with format –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Please test and Paste the working  Github URL –</a:t>
            </a:r>
            <a:endParaRPr/>
          </a:p>
          <a:p>
            <a:pPr indent="0" lvl="0" marL="0" marR="0" rtl="0" algn="l">
              <a:lnSpc>
                <a:spcPct val="162162"/>
              </a:lnSpc>
              <a:spcBef>
                <a:spcPts val="0"/>
              </a:spcBef>
              <a:spcAft>
                <a:spcPts val="0"/>
              </a:spcAft>
              <a:buNone/>
            </a:pPr>
            <a:r>
              <a:rPr b="1" i="0" lang="en-US" sz="1850" u="none" cap="none" strike="noStrike">
                <a:solidFill>
                  <a:srgbClr val="2B3541"/>
                </a:solidFill>
                <a:latin typeface="Times New Roman"/>
                <a:ea typeface="Times New Roman"/>
                <a:cs typeface="Times New Roman"/>
                <a:sym typeface="Times New Roman"/>
              </a:rPr>
              <a:t>Make sure you have Uploaded following three files into your github repository  </a:t>
            </a:r>
            <a:br>
              <a:rPr b="0" i="0" lang="en-US" sz="1850" u="none" cap="none" strike="noStrike">
                <a:solidFill>
                  <a:srgbClr val="2B3541"/>
                </a:solidFill>
                <a:latin typeface="Times New Roman"/>
                <a:ea typeface="Times New Roman"/>
                <a:cs typeface="Times New Roman"/>
                <a:sym typeface="Times New Roman"/>
              </a:rPr>
            </a:br>
            <a:r>
              <a:rPr b="0" i="0" lang="en-US" sz="1850" u="none" cap="none" strike="noStrike">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endParaRPr/>
          </a:p>
          <a:p>
            <a:pPr indent="0" lvl="0" marL="0" marR="0" rtl="0" algn="l">
              <a:lnSpc>
                <a:spcPct val="162162"/>
              </a:lnSpc>
              <a:spcBef>
                <a:spcPts val="0"/>
              </a:spcBef>
              <a:spcAft>
                <a:spcPts val="0"/>
              </a:spcAft>
              <a:buClr>
                <a:srgbClr val="2B3541"/>
              </a:buClr>
              <a:buSzPts val="1850"/>
              <a:buFont typeface="Times New Roman"/>
              <a:buNone/>
            </a:pPr>
            <a:r>
              <a:t/>
            </a:r>
            <a:endParaRPr b="0" i="0" sz="1850" u="none" cap="none" strike="noStrike">
              <a:solidFill>
                <a:srgbClr val="000000"/>
              </a:solidFill>
              <a:latin typeface="Times New Roman"/>
              <a:ea typeface="Times New Roman"/>
              <a:cs typeface="Times New Roman"/>
              <a:sym typeface="Times New Roman"/>
            </a:endParaRPr>
          </a:p>
        </p:txBody>
      </p:sp>
      <p:sp>
        <p:nvSpPr>
          <p:cNvPr id="189" name="Google Shape;189;p26"/>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90" name="Google Shape;190;p26"/>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91" name="Google Shape;191;p26"/>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7"/>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197" name="Google Shape;197;p27"/>
          <p:cNvSpPr/>
          <p:nvPr/>
        </p:nvSpPr>
        <p:spPr>
          <a:xfrm>
            <a:off x="1218724" y="1221715"/>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1.Integration with Wearables &amp; Health Devices –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endParaRPr/>
          </a:p>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2.AI-Powered Voice Assistant &amp; Multilingual Support </a:t>
            </a:r>
            <a:r>
              <a:rPr b="0" i="0" lang="en-US" sz="1850" u="none" cap="none" strike="noStrike">
                <a:solidFill>
                  <a:srgbClr val="2B3541"/>
                </a:solidFill>
                <a:latin typeface="Times New Roman"/>
                <a:ea typeface="Times New Roman"/>
                <a:cs typeface="Times New Roman"/>
                <a:sym typeface="Times New Roman"/>
              </a:rPr>
              <a:t>–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b="0" i="0" sz="1850" u="none" cap="none" strike="noStrike">
              <a:solidFill>
                <a:srgbClr val="000000"/>
              </a:solidFill>
              <a:latin typeface="Times New Roman"/>
              <a:ea typeface="Times New Roman"/>
              <a:cs typeface="Times New Roman"/>
              <a:sym typeface="Times New Roman"/>
            </a:endParaRPr>
          </a:p>
        </p:txBody>
      </p:sp>
      <p:sp>
        <p:nvSpPr>
          <p:cNvPr id="198" name="Google Shape;198;p27"/>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99" name="Google Shape;199;p27"/>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00" name="Google Shape;200;p27"/>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8"/>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06" name="Google Shape;206;p28" title="Screenshot 2026-10-10 141850.png"/>
          <p:cNvPicPr preferRelativeResize="0"/>
          <p:nvPr/>
        </p:nvPicPr>
        <p:blipFill>
          <a:blip r:embed="rId3">
            <a:alphaModFix/>
          </a:blip>
          <a:stretch>
            <a:fillRect/>
          </a:stretch>
        </p:blipFill>
        <p:spPr>
          <a:xfrm>
            <a:off x="2222025" y="707638"/>
            <a:ext cx="7382770" cy="566871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9"/>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12" name="Google Shape;212;p29" title="Screenshot 2026-10-10 141714.png"/>
          <p:cNvPicPr preferRelativeResize="0"/>
          <p:nvPr/>
        </p:nvPicPr>
        <p:blipFill>
          <a:blip r:embed="rId3">
            <a:alphaModFix/>
          </a:blip>
          <a:stretch>
            <a:fillRect/>
          </a:stretch>
        </p:blipFill>
        <p:spPr>
          <a:xfrm>
            <a:off x="1887413" y="1342181"/>
            <a:ext cx="8605386" cy="533992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30"/>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